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BDD55-1F3B-E3D6-6CD4-2F7149012D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E0363-B326-DB5F-5084-D962155E2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BD47D-A69E-7590-F076-B4C8D4249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55B9-19E7-4DB6-9680-8462A5F9D79C}" type="datetimeFigureOut">
              <a:rPr lang="en-PK" smtClean="0"/>
              <a:t>15/09/2022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126D4-C2BD-F171-860F-DB864B6B5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86E17-29EE-6DC8-F6CC-743BB1270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A7F39-F858-4BA5-9408-F45A5AE26B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73813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85632-F6C6-B63D-F0D6-18B0D7967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EC534-F2B6-1C53-7284-C7124FE03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07832-DDCB-6F9E-8DBF-FA5EEB613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55B9-19E7-4DB6-9680-8462A5F9D79C}" type="datetimeFigureOut">
              <a:rPr lang="en-PK" smtClean="0"/>
              <a:t>15/09/2022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6CC4D-2D0B-5D06-62B1-89A989876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D4364-98A7-DADE-ED2D-211FEBB4D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A7F39-F858-4BA5-9408-F45A5AE26B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34768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B3A03-FE69-9A63-18C7-4A70C6B48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BBA5A-2B68-B189-2180-85D8CDCC9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75FD9-0D2B-99FB-1666-9CB31C6A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55B9-19E7-4DB6-9680-8462A5F9D79C}" type="datetimeFigureOut">
              <a:rPr lang="en-PK" smtClean="0"/>
              <a:t>15/09/2022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D4884-A5A7-6909-D56A-D8FC2FA14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A84AD-D380-8207-336C-775ACD1E8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A7F39-F858-4BA5-9408-F45A5AE26B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4149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A449B-302A-E64F-3DCA-A87252222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60627-44CE-596B-3A4D-0AE752E67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4D6951-E8E8-168D-EBE4-6962D0421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4026F8-58D7-C6E7-D793-061D7B79B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55B9-19E7-4DB6-9680-8462A5F9D79C}" type="datetimeFigureOut">
              <a:rPr lang="en-PK" smtClean="0"/>
              <a:t>15/09/2022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52DFF-8013-B841-E6DF-14BE28321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224B87-FEB1-161C-A580-05E2F0755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A7F39-F858-4BA5-9408-F45A5AE26B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28786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EF3A8-5565-7D86-8DB7-288D92DCE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49CD3-42CA-FB9F-B2AD-AB6CD5332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E08AB3-7B9D-E0F9-B51D-FEB74DAFE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82227B-EBDD-FED8-1BBA-88F0365EF8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615B14-9182-014B-30F2-62CA19365D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90C967-5928-BC54-15E8-202C9C5F1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55B9-19E7-4DB6-9680-8462A5F9D79C}" type="datetimeFigureOut">
              <a:rPr lang="en-PK" smtClean="0"/>
              <a:t>15/09/2022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4964F9-546A-4FA4-F51A-6752E51CF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E3DEB3-747C-65BA-BE8B-876A0CD1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A7F39-F858-4BA5-9408-F45A5AE26B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33142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4DCA-C814-D005-22DC-453F0EB7F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98BEC3-AD53-8C8C-872A-6EE57D107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55B9-19E7-4DB6-9680-8462A5F9D79C}" type="datetimeFigureOut">
              <a:rPr lang="en-PK" smtClean="0"/>
              <a:t>15/09/2022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E6AE78-0C0C-0C62-C142-67C58C1CA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99A968-A8DA-CA64-CA33-6E12A9B71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A7F39-F858-4BA5-9408-F45A5AE26B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59925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C47A64-0B06-2373-EB1F-12378A2D0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55B9-19E7-4DB6-9680-8462A5F9D79C}" type="datetimeFigureOut">
              <a:rPr lang="en-PK" smtClean="0"/>
              <a:t>15/09/2022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AC5BF3-37E3-5E0F-C940-11AA2D06C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70AB1-24BF-3033-1ADA-91159C779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A7F39-F858-4BA5-9408-F45A5AE26B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36740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74844-68AF-DF74-B664-3F746919F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F03D1-14A8-016E-365B-A5BAB222E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549F89-14BD-1354-3424-A65011488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2DEC86-1C33-C4CA-FE31-E72905C60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55B9-19E7-4DB6-9680-8462A5F9D79C}" type="datetimeFigureOut">
              <a:rPr lang="en-PK" smtClean="0"/>
              <a:t>15/09/2022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D8197-EC88-1F03-0153-2CFB0219C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C945A-DA55-2D98-81AD-45A0A8C91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A7F39-F858-4BA5-9408-F45A5AE26B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29732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47E23-4044-9BE3-224A-9EFFEDBC2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957710-3E41-8244-5E8A-1D190FE492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C21A5-1994-1D69-9095-ED17306EB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B4704-C4BE-C7BF-C4EC-0B37E2981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55B9-19E7-4DB6-9680-8462A5F9D79C}" type="datetimeFigureOut">
              <a:rPr lang="en-PK" smtClean="0"/>
              <a:t>15/09/2022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49C9E-C989-21CE-26E2-4ED6D7C7D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C724F-D281-D9ED-30F0-3BAC85BA4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A7F39-F858-4BA5-9408-F45A5AE26B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75251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EEDE4-E129-DE9F-4115-600A1FFDB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F0937-39E0-69EE-2538-B0FE1CE4D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7FF03-8D0A-571C-364E-6D73661F2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55B9-19E7-4DB6-9680-8462A5F9D79C}" type="datetimeFigureOut">
              <a:rPr lang="en-PK" smtClean="0"/>
              <a:t>15/09/2022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449B2-70DD-4FD6-4EB7-8D9A1A515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7A70F-D8A4-C2BD-0C33-28C7A6A4F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A7F39-F858-4BA5-9408-F45A5AE26B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19300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397FCF-E1C0-6303-68F4-A982E51CD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CB6F7-DE97-B9DF-84BE-D4E8B1FAF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C8014-86E1-8369-C216-7EE1506AA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55B9-19E7-4DB6-9680-8462A5F9D79C}" type="datetimeFigureOut">
              <a:rPr lang="en-PK" smtClean="0"/>
              <a:t>15/09/2022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A841B-355C-AB24-5EF7-3C27E2BB2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1E4C5-C2DE-933D-7972-03C32581E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A7F39-F858-4BA5-9408-F45A5AE26B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93539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769D19-28D0-69E2-FE20-74EEDFEA3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564A5-791F-E7A5-7C5C-2EDBFD1F1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5EFBC-C9EB-889D-5EC6-37FA7FB0CF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E155B9-19E7-4DB6-9680-8462A5F9D79C}" type="datetimeFigureOut">
              <a:rPr lang="en-PK" smtClean="0"/>
              <a:t>15/09/2022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383A5-FBA4-C08E-03D1-7695F6607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990CE-19EE-165A-B862-D11EC0C878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A7F39-F858-4BA5-9408-F45A5AE26B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50273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66EA7-4DC3-81EE-D06E-1A162F9CC5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0" i="0" dirty="0">
                <a:solidFill>
                  <a:srgbClr val="303030"/>
                </a:solidFill>
                <a:effectLst/>
                <a:latin typeface="Heebo" pitchFamily="2" charset="-79"/>
                <a:cs typeface="Heebo" pitchFamily="2" charset="-79"/>
              </a:rPr>
              <a:t>C - Operators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16DF8-C43C-D312-4323-1D5780E0D5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81743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14E2C-E67C-5E72-8ED9-3100E1AC8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Operators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446C4-4CD1-C4A2-D729-3BDC5DAA7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Nunito" panose="020B0604020202020204" pitchFamily="2" charset="0"/>
              </a:rPr>
              <a:t>An operator is a symbol that tells the compiler to perform specific mathematical or logical functions. C language is rich in built-in operators and provides the following types of operators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Nunito" panose="020B0604020202020204" pitchFamily="2" charset="0"/>
              </a:rPr>
              <a:t>Arithmetic Operators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Nunito" panose="020B0604020202020204" pitchFamily="2" charset="0"/>
              </a:rPr>
              <a:t>Relational Operators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Nunito" panose="020B0604020202020204" pitchFamily="2" charset="0"/>
              </a:rPr>
              <a:t>Logical Operators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Nunito" panose="020B0604020202020204" pitchFamily="2" charset="0"/>
              </a:rPr>
              <a:t>Bitwise Operators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Nunito" panose="020B0604020202020204" pitchFamily="2" charset="0"/>
              </a:rPr>
              <a:t>Assignment Operators</a:t>
            </a:r>
          </a:p>
          <a:p>
            <a:pPr lvl="1" algn="just"/>
            <a:r>
              <a:rPr lang="en-US" b="0" i="0" dirty="0" err="1">
                <a:solidFill>
                  <a:srgbClr val="000000"/>
                </a:solidFill>
                <a:effectLst/>
                <a:latin typeface="Nunito" panose="020B0604020202020204" pitchFamily="2" charset="0"/>
              </a:rPr>
              <a:t>Misc</a:t>
            </a:r>
            <a:r>
              <a:rPr lang="en-US" b="0" i="0" dirty="0">
                <a:solidFill>
                  <a:srgbClr val="000000"/>
                </a:solidFill>
                <a:effectLst/>
                <a:latin typeface="Nunito" panose="020B0604020202020204" pitchFamily="2" charset="0"/>
              </a:rPr>
              <a:t> Operators</a:t>
            </a:r>
          </a:p>
          <a:p>
            <a:pPr algn="just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6858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5E63C-5E23-0615-3608-FFA022640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Heebo" panose="020B0604020202020204" pitchFamily="2" charset="-79"/>
                <a:cs typeface="Heebo" panose="020B0604020202020204" pitchFamily="2" charset="-79"/>
              </a:rPr>
              <a:t>Arithmetic Operators</a:t>
            </a:r>
            <a:br>
              <a:rPr lang="en-US" b="0" i="0" dirty="0">
                <a:solidFill>
                  <a:srgbClr val="000000"/>
                </a:solidFill>
                <a:effectLst/>
                <a:latin typeface="Heebo" panose="020B0604020202020204" pitchFamily="2" charset="-79"/>
                <a:cs typeface="Heebo" panose="020B0604020202020204" pitchFamily="2" charset="-79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4C325-F1DF-53E5-2CC5-5D79AE495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The following table shows all the arithmetic operators supported by the C language. Assume variable </a:t>
            </a:r>
            <a:r>
              <a:rPr lang="en-US" b="1" i="0" dirty="0">
                <a:solidFill>
                  <a:srgbClr val="000000"/>
                </a:solidFill>
                <a:effectLst/>
                <a:latin typeface="Nunito" pitchFamily="2" charset="0"/>
              </a:rPr>
              <a:t>A</a:t>
            </a:r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 holds 10 and variable </a:t>
            </a:r>
            <a:r>
              <a:rPr lang="en-US" b="1" i="0" dirty="0">
                <a:solidFill>
                  <a:srgbClr val="000000"/>
                </a:solidFill>
                <a:effectLst/>
                <a:latin typeface="Nunito" pitchFamily="2" charset="0"/>
              </a:rPr>
              <a:t>B</a:t>
            </a:r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 holds 20 then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1ACCD-E441-5B44-F948-51875D1BB0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472" t="40251" r="31722" b="29812"/>
          <a:stretch/>
        </p:blipFill>
        <p:spPr>
          <a:xfrm>
            <a:off x="1164566" y="3053751"/>
            <a:ext cx="8686800" cy="341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757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382AB-4A6E-5098-04E5-7CCAC61EB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Heebo" pitchFamily="2" charset="-79"/>
                <a:cs typeface="Heebo" pitchFamily="2" charset="-79"/>
              </a:rPr>
              <a:t>Relational Operators</a:t>
            </a:r>
            <a:br>
              <a:rPr lang="en-US" b="0" i="0" dirty="0">
                <a:solidFill>
                  <a:srgbClr val="000000"/>
                </a:solidFill>
                <a:effectLst/>
                <a:latin typeface="Heebo" pitchFamily="2" charset="-79"/>
                <a:cs typeface="Heebo" pitchFamily="2" charset="-79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AED02-60A4-57DE-29E5-1734B7602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The following table shows all the relational operators supported by C. Assume variable </a:t>
            </a:r>
            <a:r>
              <a:rPr lang="en-US" b="1" i="0" dirty="0">
                <a:solidFill>
                  <a:srgbClr val="000000"/>
                </a:solidFill>
                <a:effectLst/>
                <a:latin typeface="Nunito" pitchFamily="2" charset="0"/>
              </a:rPr>
              <a:t>A</a:t>
            </a:r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 holds 10 and variable </a:t>
            </a:r>
            <a:r>
              <a:rPr lang="en-US" b="1" i="0" dirty="0">
                <a:solidFill>
                  <a:srgbClr val="000000"/>
                </a:solidFill>
                <a:effectLst/>
                <a:latin typeface="Nunito" pitchFamily="2" charset="0"/>
              </a:rPr>
              <a:t>B</a:t>
            </a:r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 holds 20 then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D59D23-C685-FD70-4944-8D9FC12D64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825" t="34548" r="32642" b="27464"/>
          <a:stretch/>
        </p:blipFill>
        <p:spPr>
          <a:xfrm>
            <a:off x="2432648" y="3200400"/>
            <a:ext cx="6668219" cy="343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517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3B301-ABAE-CC25-6B02-060E3B0FD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Heebo" pitchFamily="2" charset="-79"/>
                <a:cs typeface="Heebo" pitchFamily="2" charset="-79"/>
              </a:rPr>
              <a:t>Logical Operators</a:t>
            </a:r>
            <a:br>
              <a:rPr lang="en-US" b="0" i="0" dirty="0">
                <a:solidFill>
                  <a:srgbClr val="000000"/>
                </a:solidFill>
                <a:effectLst/>
                <a:latin typeface="Heebo" pitchFamily="2" charset="-79"/>
                <a:cs typeface="Heebo" pitchFamily="2" charset="-79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62725-5CDD-F8B9-1719-DE5833FC4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Following table shows all the logical operators supported by C language. Assume variable </a:t>
            </a:r>
            <a:r>
              <a:rPr lang="en-US" b="1" i="0" dirty="0">
                <a:solidFill>
                  <a:srgbClr val="000000"/>
                </a:solidFill>
                <a:effectLst/>
                <a:latin typeface="Nunito" pitchFamily="2" charset="0"/>
              </a:rPr>
              <a:t>A</a:t>
            </a:r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 holds 1 and variable </a:t>
            </a:r>
            <a:r>
              <a:rPr lang="en-US" b="1" i="0" dirty="0">
                <a:solidFill>
                  <a:srgbClr val="000000"/>
                </a:solidFill>
                <a:effectLst/>
                <a:latin typeface="Nunito" pitchFamily="2" charset="0"/>
              </a:rPr>
              <a:t>B</a:t>
            </a:r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 holds 0, then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Nunito" pitchFamily="2" charset="0"/>
            </a:endParaRPr>
          </a:p>
          <a:p>
            <a:endParaRPr lang="en-P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0258D7-1857-633D-78BD-8C6A760DDD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401" t="57987" r="32075" b="19120"/>
          <a:stretch/>
        </p:blipFill>
        <p:spPr>
          <a:xfrm>
            <a:off x="1613139" y="3200398"/>
            <a:ext cx="9115556" cy="276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917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13B9A-6988-4E72-16BE-B8278BDEC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Heebo" pitchFamily="2" charset="-79"/>
                <a:cs typeface="Heebo" pitchFamily="2" charset="-79"/>
              </a:rPr>
              <a:t>Bitwise Operators</a:t>
            </a:r>
            <a:br>
              <a:rPr lang="en-US" b="0" i="0" dirty="0">
                <a:solidFill>
                  <a:srgbClr val="000000"/>
                </a:solidFill>
                <a:effectLst/>
                <a:latin typeface="Heebo" pitchFamily="2" charset="-79"/>
                <a:cs typeface="Heebo" pitchFamily="2" charset="-79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596CF-AEAB-7609-05C5-980AEFC40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Bitwise operator works on bits and perform bit-by-bit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operatio</a:t>
            </a:r>
            <a:endParaRPr lang="en-US" b="0" i="0" dirty="0">
              <a:solidFill>
                <a:srgbClr val="000000"/>
              </a:solidFill>
              <a:effectLst/>
              <a:latin typeface="Nunito" pitchFamily="2" charset="0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n. The truth tables for &amp;, |, and ^ is as follows −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E00774-834B-232D-4386-E73998BE66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293" t="51069" r="29316" b="30188"/>
          <a:stretch/>
        </p:blipFill>
        <p:spPr>
          <a:xfrm>
            <a:off x="1285336" y="3269411"/>
            <a:ext cx="9110707" cy="232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178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6F748-76DF-EA6C-7137-34B91A204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626B6-E95B-1B03-350A-930AA7583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Assume A = 60 and B = 13 in binary format, they will be as follows −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A = 0011 1100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B = 0000 1101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-----------------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A&amp;B = 0000 1100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A|B = 0011 1101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A^B = 0011 0001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~A = 1100 0011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91140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6B448-950B-6EB8-D579-0DCB4C78A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1004"/>
            <a:ext cx="10515600" cy="1325563"/>
          </a:xfrm>
        </p:spPr>
        <p:txBody>
          <a:bodyPr/>
          <a:lstStyle/>
          <a:p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545E2-AA3A-4674-56FB-E7258B0A6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The following table lists the bitwise operators supported by C. Assume a variable 'A' holds 60 and variable 'B' holds 13, then −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55253E-5977-3D54-D099-53590D535D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401" t="47422" r="31226" b="15723"/>
          <a:stretch/>
        </p:blipFill>
        <p:spPr>
          <a:xfrm>
            <a:off x="1621766" y="2881221"/>
            <a:ext cx="7651630" cy="3657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588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150D1-19EE-D653-05B0-83E0F7BD2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Heebo" pitchFamily="2" charset="-79"/>
                <a:cs typeface="Heebo" pitchFamily="2" charset="-79"/>
              </a:rPr>
              <a:t>Assignment Operators</a:t>
            </a:r>
            <a:br>
              <a:rPr lang="en-US" b="0" i="0" dirty="0">
                <a:solidFill>
                  <a:srgbClr val="000000"/>
                </a:solidFill>
                <a:effectLst/>
                <a:latin typeface="Heebo" pitchFamily="2" charset="-79"/>
                <a:cs typeface="Heebo" pitchFamily="2" charset="-79"/>
              </a:rPr>
            </a:b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BCB940-B67B-ABA9-9A00-C6BDF73D01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5393" t="29612" r="26099" b="14284"/>
          <a:stretch/>
        </p:blipFill>
        <p:spPr>
          <a:xfrm>
            <a:off x="4051540" y="2173856"/>
            <a:ext cx="7042030" cy="4581368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42ABFD8-4E50-7467-4CDE-523078E5800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The following table lists the assignment operators supported by the C language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02210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25158-3914-C818-D152-DB135EFF4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Heebo" pitchFamily="2" charset="-79"/>
                <a:cs typeface="Heebo" pitchFamily="2" charset="-79"/>
              </a:rPr>
              <a:t>Misc</a:t>
            </a:r>
            <a:r>
              <a:rPr lang="en-US" b="0" i="0" dirty="0">
                <a:solidFill>
                  <a:srgbClr val="000000"/>
                </a:solidFill>
                <a:effectLst/>
                <a:latin typeface="Heebo" pitchFamily="2" charset="-79"/>
                <a:cs typeface="Heebo" pitchFamily="2" charset="-79"/>
              </a:rPr>
              <a:t> Operators</a:t>
            </a:r>
            <a:br>
              <a:rPr lang="en-US" b="0" i="0" dirty="0">
                <a:solidFill>
                  <a:srgbClr val="000000"/>
                </a:solidFill>
                <a:effectLst/>
                <a:latin typeface="Heebo" pitchFamily="2" charset="-79"/>
                <a:cs typeface="Heebo" pitchFamily="2" charset="-79"/>
              </a:rPr>
            </a:b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35C130-5E8A-AFC3-3216-7FF9004178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4277" t="62125" r="25653" b="27170"/>
          <a:stretch/>
        </p:blipFill>
        <p:spPr>
          <a:xfrm>
            <a:off x="1604513" y="3347049"/>
            <a:ext cx="8176887" cy="983411"/>
          </a:xfr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60487D8-62BD-1BD8-3984-EF41AE21D7E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Besides the operators discussed above, there are a few other important operators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45040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</Words>
  <Application>Microsoft Office PowerPoint</Application>
  <PresentationFormat>Widescreen</PresentationFormat>
  <Paragraphs>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Heebo</vt:lpstr>
      <vt:lpstr>Nunito</vt:lpstr>
      <vt:lpstr>Office Theme</vt:lpstr>
      <vt:lpstr>C - Operators</vt:lpstr>
      <vt:lpstr>Operators</vt:lpstr>
      <vt:lpstr>Arithmetic Operators </vt:lpstr>
      <vt:lpstr>Relational Operators </vt:lpstr>
      <vt:lpstr>Logical Operators </vt:lpstr>
      <vt:lpstr>Bitwise Operators </vt:lpstr>
      <vt:lpstr>PowerPoint Presentation</vt:lpstr>
      <vt:lpstr>PowerPoint Presentation</vt:lpstr>
      <vt:lpstr>Assignment Operators </vt:lpstr>
      <vt:lpstr>Misc Operators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- Operators</dc:title>
  <dc:creator>maryam omer</dc:creator>
  <cp:lastModifiedBy>maryam omer</cp:lastModifiedBy>
  <cp:revision>1</cp:revision>
  <dcterms:created xsi:type="dcterms:W3CDTF">2022-09-15T09:04:03Z</dcterms:created>
  <dcterms:modified xsi:type="dcterms:W3CDTF">2022-09-15T09:04:16Z</dcterms:modified>
</cp:coreProperties>
</file>